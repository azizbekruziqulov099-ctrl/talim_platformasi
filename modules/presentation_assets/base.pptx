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1d31d3d1e8436f" /><Relationship Type="http://schemas.openxmlformats.org/officeDocument/2006/relationships/extended-properties" Target="/docProps/app.xml" Id="R333d4bc015d54296" /><Relationship Type="http://schemas.openxmlformats.org/officeDocument/2006/relationships/officeDocument" Target="/ppt/presentation.xml" Id="Rad8664338e0349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32fbc5532b4e96"/>
  </p:sldMasterIdLst>
  <p:notesMasterIdLst>
    <p:notesMasterId xmlns:r="http://schemas.openxmlformats.org/officeDocument/2006/relationships" r:id="R76897357a8d5456c"/>
  </p:notesMasterIdLst>
  <p:sldIdLst>
    <p:sldId xmlns:r="http://schemas.openxmlformats.org/officeDocument/2006/relationships" id="256" r:id="R16c0bc23b6994445"/>
    <p:sldId xmlns:r="http://schemas.openxmlformats.org/officeDocument/2006/relationships" id="257" r:id="R7ac7d76de7ea4992"/>
    <p:sldId xmlns:r="http://schemas.openxmlformats.org/officeDocument/2006/relationships" id="258" r:id="R42fb0d769aa34f15"/>
    <p:sldId xmlns:r="http://schemas.openxmlformats.org/officeDocument/2006/relationships" id="259" r:id="R489ffbc4dac847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52e7faa08848c6" /><Relationship Type="http://schemas.openxmlformats.org/officeDocument/2006/relationships/slideMaster" Target="/ppt/slideMasters/slideMaster1.xml" Id="R9032fbc5532b4e96" /><Relationship Type="http://schemas.openxmlformats.org/officeDocument/2006/relationships/notesMaster" Target="/ppt/notesMasters/notesMaster1.xml" Id="R76897357a8d5456c" /><Relationship Type="http://schemas.openxmlformats.org/officeDocument/2006/relationships/presProps" Target="/ppt/presProps.xml" Id="R20e6bd03eb8d469c" /><Relationship Type="http://schemas.openxmlformats.org/officeDocument/2006/relationships/tableStyles" Target="/ppt/tableStyles.xml" Id="R65e368e89c7949f0" /><Relationship Type="http://schemas.openxmlformats.org/officeDocument/2006/relationships/slide" Target="/ppt/slides/slide1.xml" Id="R16c0bc23b6994445" /><Relationship Type="http://schemas.openxmlformats.org/officeDocument/2006/relationships/slide" Target="/ppt/slides/slide2.xml" Id="R7ac7d76de7ea4992" /><Relationship Type="http://schemas.openxmlformats.org/officeDocument/2006/relationships/slide" Target="/ppt/slides/slide3.xml" Id="R42fb0d769aa34f15" /><Relationship Type="http://schemas.openxmlformats.org/officeDocument/2006/relationships/slide" Target="/ppt/slides/slide4.xml" Id="R489ffbc4dac847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19f7cd994e43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ea5d0afc534075" /><Relationship Type="http://schemas.openxmlformats.org/officeDocument/2006/relationships/notesMaster" Target="/ppt/notesMasters/notesMaster1.xml" Id="R41e0f3ca5bfb47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8a15198ce448e1" /><Relationship Type="http://schemas.openxmlformats.org/officeDocument/2006/relationships/notesMaster" Target="/ppt/notesMasters/notesMaster1.xml" Id="R261814d16f9c44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a417bc18fd4b78" /><Relationship Type="http://schemas.openxmlformats.org/officeDocument/2006/relationships/notesMaster" Target="/ppt/notesMasters/notesMaster1.xml" Id="R16234fd25ebd41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69b46252bc4080" /><Relationship Type="http://schemas.openxmlformats.org/officeDocument/2006/relationships/notesMaster" Target="/ppt/notesMasters/notesMaster1.xml" Id="R8158275dfc4145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ax²+bx+c=0; a≠0. Haqiqiy ildizlar uchun D=b²−4ac≥0. Misolda D=25−24=1, x₁=(5+1)/2=3, x₂=(5−1)/2=2.</a:t>
            </a:r>
          </a:p>
          <a:p xmlns:a="http://schemas.openxmlformats.org/drawingml/2006/main">
            <a:r>
              <a:t>Manba: https://openstax.org/books/algebra-and-trigonometry-2e/pages/2-5-quadratic-equations</a:t>
            </a:r>
          </a:p>
          <a:p xmlns:a="http://schemas.openxmlformats.org/drawingml/2006/main">
            <a:r>
              <a:t>Fon: shu taqdimot uchun sun’iy intellekt yordamida yaratilgan mavhum tasvir.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Nuqtaviy massalar yoki o‘zaro kesishmaydigan sferik simmetrik jismlar modeli. r markazlar orasidan o‘lchanadi. G≈6.674×10⁻¹¹ N·m²/kg². m₁=m₂=1kg va r=1m bo‘lsa F≈6.674×10⁻¹¹N.</a:t>
            </a:r>
          </a:p>
          <a:p xmlns:a="http://schemas.openxmlformats.org/drawingml/2006/main">
            <a:r>
              <a:t>Manba: https://openstax.org/books/university-physics-volume-1/pages/13-1-newtons-law-of-universal-gravitation</a:t>
            </a:r>
          </a:p>
          <a:p xmlns:a="http://schemas.openxmlformats.org/drawingml/2006/main">
            <a:r>
              <a:t>Fon: shu taqdimot uchun sun’iy intellekt yordamida yaratilgan mavhum tasvir.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Konsentratsiya bo‘yicha formula suyultirilgan, idealga yaqin suvli eritma uchun yaqinlashuvdir. Aniq ta’rif vodorod ionining aktivligiga asoslanadi. c°=1mol/L bilan nisbat o‘lchamsiz. c(H⁺)=10⁻³mol/L uchun pH≈3.</a:t>
            </a:r>
          </a:p>
          <a:p xmlns:a="http://schemas.openxmlformats.org/drawingml/2006/main">
            <a:r>
              <a:t>Manbalar: https://openstax.org/books/chemistry-2e/pages/14-2-ph-and-poh</a:t>
            </a:r>
          </a:p>
          <a:p xmlns:a="http://schemas.openxmlformats.org/drawingml/2006/main">
            <a:r>
              <a:t>https://goldbook.iupac.org/terms/view/P04524</a:t>
            </a:r>
          </a:p>
          <a:p xmlns:a="http://schemas.openxmlformats.org/drawingml/2006/main">
            <a:r>
              <a:t>Fon: shu taqdimot uchun sun’iy intellekt yordamida yaratilgan mavhum tasvir.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Ikki allelli diploid model. p va q — A va a allellari chastotalari. Tasodifiy juftlashish, juda katta populyatsiya; mutatsiya, migratsiya va tabiiy tanlanish yo‘q; genetik drift e’tiborsiz. Misolda 0.36+0.48+0.16=1.</a:t>
            </a:r>
          </a:p>
          <a:p xmlns:a="http://schemas.openxmlformats.org/drawingml/2006/main">
            <a:r>
              <a:t>Manba: https://openstax.org/books/biology-ap-courses/pages/19-1-population-evolution</a:t>
            </a:r>
          </a:p>
          <a:p xmlns:a="http://schemas.openxmlformats.org/drawingml/2006/main">
            <a:r>
              <a:t>Fon: shu taqdimot uchun sun’iy intellekt yordamida yaratilgan mavhum tasvir.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85c2a75c64d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eb81f13c6f4441" /><Relationship Type="http://schemas.openxmlformats.org/officeDocument/2006/relationships/slideLayout" Target="/ppt/slideLayouts/slideLayout1.xml" Id="Rf0a2df9bc63f4e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a2df9bc63f4e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d3fec2346304963"/><Relationship Type="http://schemas.openxmlformats.org/officeDocument/2006/relationships/image" Target="/ppt/media/image.png" Id="R3fad1b28d6f14235"/><Relationship Type="http://schemas.openxmlformats.org/officeDocument/2006/relationships/notesSlide" Target="/ppt/notesSlides/notesSlide1.xml" Id="Rac834fc4e9ff40aa"/><Relationship Id="rIdEq1" Type="http://schemas.openxmlformats.org/officeDocument/2006/relationships/image" Target="../media/equation_native_fallback_1_eq_main.png"/><Relationship Id="rIdEq2" Type="http://schemas.openxmlformats.org/officeDocument/2006/relationships/image" Target="../media/equation_native_fallback_1_eq_secondary.png"/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5d5683599fb4e7d"/><Relationship Type="http://schemas.openxmlformats.org/officeDocument/2006/relationships/image" Target="/ppt/media/image2.png" Id="R4cedb1d8434d41ae"/><Relationship Type="http://schemas.openxmlformats.org/officeDocument/2006/relationships/notesSlide" Target="/ppt/notesSlides/notesSlide2.xml" Id="Rce1f3dd043f74e10"/><Relationship Id="rIdEq1" Type="http://schemas.openxmlformats.org/officeDocument/2006/relationships/image" Target="../media/equation_native_fallback_2_eq_main.png"/><Relationship Id="rIdEq2" Type="http://schemas.openxmlformats.org/officeDocument/2006/relationships/image" Target="../media/equation_native_fallback_2_eq_secondary.png"/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741182c0d394b6b"/><Relationship Type="http://schemas.openxmlformats.org/officeDocument/2006/relationships/image" Target="/ppt/media/image3.png" Id="R7afb8b88e1d94087"/><Relationship Type="http://schemas.openxmlformats.org/officeDocument/2006/relationships/notesSlide" Target="/ppt/notesSlides/notesSlide3.xml" Id="R4cb306b862e44f7b"/><Relationship Id="rIdEq1" Type="http://schemas.openxmlformats.org/officeDocument/2006/relationships/image" Target="../media/equation_native_fallback_3_eq_main.png"/><Relationship Id="rIdEq2" Type="http://schemas.openxmlformats.org/officeDocument/2006/relationships/image" Target="../media/equation_native_fallback_3_eq_secondary.png"/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55bc3ec61164995"/><Relationship Type="http://schemas.openxmlformats.org/officeDocument/2006/relationships/image" Target="/ppt/media/image4.png" Id="Redce3a0bae834844"/><Relationship Type="http://schemas.openxmlformats.org/officeDocument/2006/relationships/notesSlide" Target="/ppt/notesSlides/notesSlide4.xml" Id="Rbc7b97f6fa6a4b9f"/><Relationship Id="rIdEq1" Type="http://schemas.openxmlformats.org/officeDocument/2006/relationships/image" Target="../media/equation_native_fallback_4_eq_main.png"/><Relationship Id="rIdEq2" Type="http://schemas.openxmlformats.org/officeDocument/2006/relationships/image" Target="../media/equation_native_fallback_4_eq_secondary.png"/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/Relationships>
</file>

<file path=ppt/slides/slide1.xml><?xml version="1.0" encoding="utf-8"?>
<p:sld xmlns:p="http://schemas.openxmlformats.org/presentationml/2006/main" xmlns:a14="http://schemas.microsoft.com/office/drawing/2010/main" xmlns:m="http://schemas.openxmlformats.org/officeDocument/2006/math" xmlns:mc="http://schemas.openxmlformats.org/markup-compatibility/2006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d1b28d6f1423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!!DARKEN">
            <a:extLst xmlns:a="http://schemas.openxmlformats.org/drawingml/2006/main">
              <a:ext uri="{FF2B5EF4-FFF2-40B4-BE49-F238E27FC236}">
                <a16:creationId xmlns:a16="http://schemas.microsoft.com/office/drawing/2014/main" id="{7A4743CD-A26A-459E-9511-D663752F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21">
              <a:alpha val="1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!!NAV_GLASS">
            <a:extLst xmlns:a="http://schemas.openxmlformats.org/drawingml/2006/main">
              <a:ext uri="{FF2B5EF4-FFF2-40B4-BE49-F238E27FC236}">
                <a16:creationId xmlns:a16="http://schemas.microsoft.com/office/drawing/2014/main" id="{85C2496B-F2AE-4AF3-A049-7E4F5402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590550"/>
          </a:xfrm>
          <a:prstGeom xmlns:a="http://schemas.openxmlformats.org/drawingml/2006/main" prst="roundRect">
            <a:avLst>
              <a:gd name="adj" fmla="val 35484"/>
            </a:avLst>
          </a:prstGeom>
          <a:solidFill xmlns:a="http://schemas.openxmlformats.org/drawingml/2006/main">
            <a:srgbClr val="F1F7FF">
              <a:alpha val="7000"/>
            </a:srgbClr>
          </a:solidFill>
          <a:ln xmlns:a="http://schemas.openxmlformats.org/drawingml/2006/main" w="9525">
            <a:solidFill>
              <a:srgbClr val="F1F7FF">
                <a:alpha val="17000"/>
              </a:srgbClr>
            </a:solidFill>
          </a:ln>
        </p:spPr>
      </p:sp>
      <p:sp>
        <p:nvSpPr>
          <p:cNvPr id="4" name="!!ACTIVE_TAB">
            <a:extLst xmlns:a="http://schemas.openxmlformats.org/drawingml/2006/main">
              <a:ext uri="{FF2B5EF4-FFF2-40B4-BE49-F238E27FC236}">
                <a16:creationId xmlns:a16="http://schemas.microsoft.com/office/drawing/2014/main" id="{21FF2A42-EF01-4954-B1EE-AA25C2F6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8DDE0">
              <a:alpha val="23000"/>
            </a:srgbClr>
          </a:solidFill>
          <a:ln xmlns:a="http://schemas.openxmlformats.org/drawingml/2006/main" w="9525">
            <a:solidFill>
              <a:srgbClr val="58DDE0">
                <a:alpha val="55000"/>
              </a:srgbClr>
            </a:solidFill>
          </a:ln>
        </p:spPr>
      </p:sp>
      <p:sp>
        <p:nvSpPr>
          <p:cNvPr id="5" name="NAV_1">
            <ns0:hlinkClick xmlns:ns0="http://schemas.openxmlformats.org/drawingml/2006/main" xmlns:ns1="http://schemas.openxmlformats.org/officeDocument/2006/relationships" ns1:id="rId1" action="ppaction://hlinksldjump" tooltip="Go to section 1"/>
            <a:extLst xmlns:a="http://schemas.openxmlformats.org/drawingml/2006/main">
              <a:ext uri="{FF2B5EF4-FFF2-40B4-BE49-F238E27FC236}">
                <a16:creationId xmlns:a16="http://schemas.microsoft.com/office/drawing/2014/main" id="{EEC0E035-1BB4-4C8B-9434-4629328A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Matematika</a:t>
            </a:r>
          </a:p>
        </p:txBody>
      </p:sp>
      <p:sp>
        <p:nvSpPr>
          <p:cNvPr id="6" name="NAV_2">
            <ns0:hlinkClick xmlns:ns0="http://schemas.openxmlformats.org/drawingml/2006/main" xmlns:ns1="http://schemas.openxmlformats.org/officeDocument/2006/relationships" ns1:id="rId2" action="ppaction://hlinksldjump" tooltip="Go to section 2"/>
            <a:extLst xmlns:a="http://schemas.openxmlformats.org/drawingml/2006/main">
              <a:ext uri="{FF2B5EF4-FFF2-40B4-BE49-F238E27FC236}">
                <a16:creationId xmlns:a16="http://schemas.microsoft.com/office/drawing/2014/main" id="{45C00FC9-8BDF-491B-A104-0C00B891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8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rPr>
              <a:t>Fizika</a:t>
            </a:r>
          </a:p>
        </p:txBody>
      </p:sp>
      <p:sp>
        <p:nvSpPr>
          <p:cNvPr id="7" name="NAV_3">
            <ns0:hlinkClick xmlns:ns0="http://schemas.openxmlformats.org/drawingml/2006/main" xmlns:ns1="http://schemas.openxmlformats.org/officeDocument/2006/relationships" ns1:id="rId3" action="ppaction://hlinksldjump" tooltip="Go to section 3"/>
            <a:extLst xmlns:a="http://schemas.openxmlformats.org/drawingml/2006/main">
              <a:ext uri="{FF2B5EF4-FFF2-40B4-BE49-F238E27FC236}">
                <a16:creationId xmlns:a16="http://schemas.microsoft.com/office/drawing/2014/main" id="{8241B813-2D95-42A0-B7C0-7A55FD6B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rPr>
              <a:t>Kimyo</a:t>
            </a:r>
          </a:p>
        </p:txBody>
      </p:sp>
      <p:sp>
        <p:nvSpPr>
          <p:cNvPr id="8" name="NAV_4">
            <ns0:hlinkClick xmlns:ns0="http://schemas.openxmlformats.org/drawingml/2006/main" xmlns:ns1="http://schemas.openxmlformats.org/officeDocument/2006/relationships" ns1:id="rId4" action="ppaction://hlinksldjump" tooltip="Go to section 4"/>
            <a:extLst xmlns:a="http://schemas.openxmlformats.org/drawingml/2006/main">
              <a:ext uri="{FF2B5EF4-FFF2-40B4-BE49-F238E27FC236}">
                <a16:creationId xmlns:a16="http://schemas.microsoft.com/office/drawing/2014/main" id="{0922A322-2DF4-4E4D-85AE-55078FA0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8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rPr>
              <a:t>Biologiya</a:t>
            </a:r>
          </a:p>
        </p:txBody>
      </p:sp>
      <p:sp>
        <p:nvSpPr>
          <p:cNvPr id="9" name="!!TITLE">
            <a:extLst xmlns:a="http://schemas.openxmlformats.org/drawingml/2006/main">
              <a:ext uri="{FF2B5EF4-FFF2-40B4-BE49-F238E27FC236}">
                <a16:creationId xmlns:a16="http://schemas.microsoft.com/office/drawing/2014/main" id="{B3A3E37D-5BA3-454A-9722-E314A5F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Kvadrat tenglama ildizlari</a:t>
            </a:r>
          </a:p>
        </p:txBody>
      </p:sp>
      <p:sp>
        <p:nvSpPr>
          <p:cNvPr id="10" name="!!INTRO">
            <a:extLst xmlns:a="http://schemas.openxmlformats.org/drawingml/2006/main">
              <a:ext uri="{FF2B5EF4-FFF2-40B4-BE49-F238E27FC236}">
                <a16:creationId xmlns:a16="http://schemas.microsoft.com/office/drawing/2014/main" id="{590AE81B-53CB-43EA-B72A-1E6C4699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09775"/>
            <a:ext cx="1064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6E1ED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D6E1ED"/>
                </a:solidFill>
                <a:latin typeface="DejaVu Sans"/>
                <a:ea typeface="DejaVu Sans"/>
                <a:cs typeface="DejaVu Sans"/>
              </a:rPr>
              <a:t>Koeffitsiyentlar orqali tenglamaning ikkala ildizini topamiz.</a:t>
            </a:r>
          </a:p>
        </p:txBody>
      </p:sp>
      <p:sp>
        <p:nvSpPr>
          <p:cNvPr id="11" name="!!FORMULA_GLASS">
            <a:extLst xmlns:a="http://schemas.openxmlformats.org/drawingml/2006/main">
              <a:ext uri="{FF2B5EF4-FFF2-40B4-BE49-F238E27FC236}">
                <a16:creationId xmlns:a16="http://schemas.microsoft.com/office/drawing/2014/main" id="{AE055C48-0925-48D0-B6D7-6B0A13F2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744200" cy="1752600"/>
          </a:xfrm>
          <a:prstGeom xmlns:a="http://schemas.openxmlformats.org/drawingml/2006/main" prst="roundRect">
            <a:avLst>
              <a:gd name="adj" fmla="val 15217"/>
            </a:avLst>
          </a:prstGeom>
          <a:gradFill xmlns:a="http://schemas.openxmlformats.org/drawingml/2006/main">
            <a:gsLst>
              <a:gs pos="0">
                <a:srgbClr val="F4FCFF">
                  <a:alpha val="13000"/>
                </a:srgbClr>
              </a:gs>
              <a:gs pos="100000">
                <a:srgbClr val="DCE5FF">
                  <a:alpha val="5000"/>
                </a:srgbClr>
              </a:gs>
            </a:gsLst>
            <a:lin ang="8100000"/>
          </a:gradFill>
          <a:ln xmlns:a="http://schemas.openxmlformats.org/drawingml/2006/main" w="9525">
            <a:solidFill>
              <a:srgbClr val="F4FCFF">
                <a:alpha val="28000"/>
              </a:srgbClr>
            </a:solidFill>
          </a:ln>
        </p:spPr>
      </p:sp>
      <mc:AlternateContent>
        <mc:Choice Requires="a14">
          <p:sp>
            <p:nvSpPr>
              <p:cNvPr id="12" name="EQ_MAIN" descr="x₁,₂ = (−b ± √(b² − 4ac))/(2a) — editable Office Math 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F99E9089-10D0-4662-AF93-B03778E247F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28750" y="2800350"/>
                <a:ext cx="9334500" cy="1190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ns0:p xmlns:ns0="http://schemas.openxmlformats.org/drawingml/2006/main">
                <ns0:pPr algn="ctr">
                  <ns0:defRPr sz="4000" b="0" lang="en-US">
                    <ns0:solidFill>
                      <ns0:srgbClr val="F6F8FF"/>
                    </ns0:solidFill>
                    <ns0:latin typeface="Cambria Math"/>
                    <ns0:ea typeface="Cambria Math"/>
                    <ns0:cs typeface="Cambria Math"/>
                  </ns0:defRPr>
                </ns0:pPr>
                <a14:m>
                  <m:oMathPara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ns0:rPr sz="40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ns0:rPr sz="40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ns0:rPr sz="40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1,2</m:t>
                          </m:r>
                        </m:sub>
                      </m:sSub>
                      <m:r>
                        <m:rPr>
                          <m:sty m:val="p"/>
                        </m:rPr>
                        <ns0:rPr sz="40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=</m:t>
                      </m:r>
                      <m:f>
                        <m:fPr>
                          <m:type m:val="bar"/>
                          <m:ctrlPr>
                            <ns0:rPr sz="40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ns0:rPr sz="40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−</m:t>
                          </m:r>
                          <m:r>
                            <m:rPr>
                              <m:sty m:val="i"/>
                            </m:rPr>
                            <ns0:rPr sz="40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b</m:t>
                          </m:r>
                          <m:r>
                            <m:rPr>
                              <m:sty m:val="p"/>
                            </m:rPr>
                            <ns0:rPr sz="40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±</m:t>
                          </m:r>
                          <m:rad>
                            <m:radPr>
                              <m:degHide m:val="1"/>
                              <m:ctrlPr>
                                <ns0:rPr sz="40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ns0:rPr sz="4000" b="0" lang="en-US">
                                      <ns0:solidFill>
                                        <ns0:srgbClr val="F6F8FF"/>
                                      </ns0:solidFill>
                                      <ns0:latin typeface="Cambria Math"/>
                                      <ns0:ea typeface="Cambria Math"/>
                                      <ns0:cs typeface="Cambria Math"/>
                                    </ns0:rPr>
                                  </m:ctrlPr>
                                </m:sSupPr>
                                <m:e>
                                  <m:r>
                                    <m:rPr>
                                      <m:sty m:val="i"/>
                                    </m:rPr>
                                    <ns0:rPr sz="4000" b="0" lang="en-US">
                                      <ns0:solidFill>
                                        <ns0:srgbClr val="F6F8FF"/>
                                      </ns0:solidFill>
                                      <ns0:latin typeface="Cambria Math"/>
                                      <ns0:ea typeface="Cambria Math"/>
                                      <ns0:cs typeface="Cambria Math"/>
                                    </ns0:rPr>
                                    <m:t>b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ns0:rPr sz="4000" b="0" lang="en-US">
                                      <ns0:solidFill>
                                        <ns0:srgbClr val="F6F8FF"/>
                                      </ns0:solidFill>
                                      <ns0:latin typeface="Cambria Math"/>
                                      <ns0:ea typeface="Cambria Math"/>
                                      <ns0:cs typeface="Cambria Math"/>
                                    </ns0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ns0:rPr sz="40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  <m:t>−4</m:t>
                              </m:r>
                              <m:r>
                                <m:rPr>
                                  <m:sty m:val="i"/>
                                </m:rPr>
                                <ns0:rPr sz="40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  <m:t>ac</m:t>
                              </m:r>
                            </m:e>
                          </m:rad>
                        </m:num>
                        <m:den>
                          <m:r>
                            <m:rPr>
                              <m:sty m:val="p"/>
                            </m:rPr>
                            <ns0:rPr sz="40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2</m:t>
                          </m:r>
                          <m:r>
                            <m:rPr>
                              <m:sty m:val="i"/>
                            </m:rPr>
                            <ns0:rPr sz="40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a</m:t>
                          </m:r>
                        </m:den>
                      </m:f>
                    </m:oMath>
                  </m:oMathPara>
                </a14:m>
                <ns0:endParaRPr sz="4000" b="0" lang="en-US">
                  <ns0:solidFill>
                    <ns0:srgbClr val="F6F8FF"/>
                  </ns0:solidFill>
                  <ns0:latin typeface="Cambria Math"/>
                  <ns0:ea typeface="Cambria Math"/>
                  <ns0:cs typeface="Cambria Math"/>
                </ns0:endParaRPr>
              </ns0:p>
            </p:txBody>
          </p:sp>
        </mc:Choice>
        <mc:Fallback>
          <p:sp>
            <p:nvSpPr>
              <p:cNvPr id="19" name="EQ_MAIN_FALLBACK" descr="x₁,₂ = (−b ± √(b² − 4ac))/(2a) — compatibility image">
                <a:extLst xmlns:a="http://schemas.openxmlformats.org/drawingml/2006/main">
                  <a:ext uri="{FF2B5EF4-FFF2-40B4-BE49-F238E27FC236}">
                    <a16:creationId xmlns:a16="http://schemas.microsoft.com/office/drawing/2014/main" id="{F99E9089-10D0-4662-AF93-B03778E247F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28750" y="2800350"/>
                <a:ext cx="9334500" cy="11906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 dpi="0" rotWithShape="1">
                <ns0:blip xmlns:ns1="http://schemas.openxmlformats.org/officeDocument/2006/relationships" ns1:embed="rIdEq1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3" name="!!EXAMPLE_GLASS">
            <a:extLst xmlns:a="http://schemas.openxmlformats.org/drawingml/2006/main">
              <a:ext uri="{FF2B5EF4-FFF2-40B4-BE49-F238E27FC236}">
                <a16:creationId xmlns:a16="http://schemas.microsoft.com/office/drawing/2014/main" id="{E41CF5BC-1FB1-4114-B670-32F2526D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0744200" cy="1390650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4FCFF">
              <a:alpha val="7000"/>
            </a:srgbClr>
          </a:solidFill>
          <a:ln xmlns:a="http://schemas.openxmlformats.org/drawingml/2006/main" w="9525">
            <a:solidFill>
              <a:srgbClr val="F4FCFF">
                <a:alpha val="19000"/>
              </a:srgbClr>
            </a:solidFill>
          </a:ln>
        </p:spPr>
      </p:sp>
      <p:sp>
        <p:nvSpPr>
          <p:cNvPr id="14" name="!!EXAMPLE_LABEL">
            <a:extLst xmlns:a="http://schemas.openxmlformats.org/drawingml/2006/main">
              <a:ext uri="{FF2B5EF4-FFF2-40B4-BE49-F238E27FC236}">
                <a16:creationId xmlns:a16="http://schemas.microsoft.com/office/drawing/2014/main" id="{046F0E60-6DA9-4606-9C9B-18E4CA7E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8DDE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8DDE0"/>
                </a:solidFill>
                <a:latin typeface="DejaVu Sans"/>
                <a:ea typeface="DejaVu Sans"/>
                <a:cs typeface="DejaVu Sans"/>
              </a:rPr>
              <a:t>MISOL</a:t>
            </a:r>
          </a:p>
        </p:txBody>
      </p:sp>
      <mc:AlternateContent>
        <mc:Choice Requires="a14">
          <p:sp>
            <p:nvSpPr>
              <p:cNvPr id="15" name="EQ_SECONDARY" descr="x² − 5x + 6 = 0  ⇒  x₁ = 3, x₂ = 2 — editable Office Math 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DD0952E2-4EDF-453C-A631-2F84637879D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90600" y="5010150"/>
                <a:ext cx="10210800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ns0:p xmlns:ns0="http://schemas.openxmlformats.org/drawingml/2006/main">
                <ns0:pPr algn="ctr">
                  <ns0:defRPr sz="2600" b="0" lang="en-US">
                    <ns0:solidFill>
                      <ns0:srgbClr val="F6F8FF"/>
                    </ns0:solidFill>
                    <ns0:latin typeface="Cambria Math"/>
                    <ns0:ea typeface="Cambria Math"/>
                    <ns0:cs typeface="Cambria Math"/>
                  </ns0:defRPr>
                </ns0:pPr>
                <a14:m>
                  <m:oMathPara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−5</m:t>
                      </m:r>
                      <m:r>
                        <m:rPr>
                          <m:sty m:val="i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x</m:t>
                      </m:r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+6=0</m:t>
                      </m:r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 xml:space="preserve">  ⇒  </m:t>
                      </m:r>
                      <m:sSub>
                        <m:sSubPr>
                          <m:ctrl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 xml:space="preserve">=3,  </m:t>
                      </m:r>
                      <m:sSub>
                        <m:sSubPr>
                          <m:ctrl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=2</m:t>
                      </m:r>
                    </m:oMath>
                  </m:oMathPara>
                </a14:m>
                <ns0:endParaRPr sz="2600" b="0" lang="en-US">
                  <ns0:solidFill>
                    <ns0:srgbClr val="F6F8FF"/>
                  </ns0:solidFill>
                  <ns0:latin typeface="Cambria Math"/>
                  <ns0:ea typeface="Cambria Math"/>
                  <ns0:cs typeface="Cambria Math"/>
                </ns0:endParaRPr>
              </ns0:p>
            </p:txBody>
          </p:sp>
        </mc:Choice>
        <mc:Fallback>
          <p:sp>
            <p:nvSpPr>
              <p:cNvPr id="20" name="EQ_SECONDARY_FALLBACK" descr="x² − 5x + 6 = 0  ⇒  x₁ = 3, x₂ = 2 — compatibility image">
                <a:extLst xmlns:a="http://schemas.openxmlformats.org/drawingml/2006/main">
                  <a:ext uri="{FF2B5EF4-FFF2-40B4-BE49-F238E27FC236}">
                    <a16:creationId xmlns:a16="http://schemas.microsoft.com/office/drawing/2014/main" id="{DD0952E2-4EDF-453C-A631-2F84637879D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90600" y="5010150"/>
                <a:ext cx="10210800" cy="7239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 dpi="0" rotWithShape="1">
                <ns0:blip xmlns:ns1="http://schemas.openxmlformats.org/officeDocument/2006/relationships" ns1:embed="rIdEq2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6" name="!!DEFINITIONS">
            <a:extLst xmlns:a="http://schemas.openxmlformats.org/drawingml/2006/main">
              <a:ext uri="{FF2B5EF4-FFF2-40B4-BE49-F238E27FC236}">
                <a16:creationId xmlns:a16="http://schemas.microsoft.com/office/drawing/2014/main" id="{7CA6A1BE-0F7B-4E9A-AD64-FD15F296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D4DEEA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D4DEEA"/>
                </a:solidFill>
                <a:latin typeface="DejaVu Sans"/>
                <a:ea typeface="DejaVu Sans"/>
                <a:cs typeface="DejaVu Sans"/>
              </a:rPr>
              <a:t>a, b, c — koeffitsiyentlar; a ≠ 0. Haqiqiy ildizlar uchun b² − 4ac ≥ 0.</a:t>
            </a:r>
          </a:p>
        </p:txBody>
      </p:sp>
      <p:sp>
        <p:nvSpPr>
          <p:cNvPr id="17" name="!!COUNTER">
            <a:extLst xmlns:a="http://schemas.openxmlformats.org/drawingml/2006/main">
              <a:ext uri="{FF2B5EF4-FFF2-40B4-BE49-F238E27FC236}">
                <a16:creationId xmlns:a16="http://schemas.microsoft.com/office/drawing/2014/main" id="{29E80CC9-1E84-4AC8-9E7B-ED779164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C4D0E0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C4D0E0"/>
                </a:solidFill>
                <a:latin typeface="DejaVu Sans"/>
                <a:ea typeface="DejaVu Sans"/>
                <a:cs typeface="DejaVu Sans"/>
              </a:rPr>
              <a:t>1 / 4</a:t>
            </a:r>
          </a:p>
        </p:txBody>
      </p:sp>
    </p:spTree>
    <p:extLst>
      <p:ext uri="{BB962C8B-B14F-4D97-AF65-F5344CB8AC3E}">
        <p14:creationId xmlns:p14="http://schemas.microsoft.com/office/powerpoint/2010/main" val="1515135735"/>
      </p:ext>
    </p:extLst>
  </p:cSld>
  <mc:AlternateContent>
    <mc:Choice xmlns:p159="http://schemas.microsoft.com/office/powerpoint/2015/09/main" xmlns:p14="http://schemas.microsoft.com/office/powerpoint/2010/main" Requires="p159 p14">
      <p:transition spd="fast" advClick="1" p14:dur="700">
        <p159:morph option="byObject"/>
      </p:transition>
    </mc:Choice>
    <mc:Choice xmlns:p14="http://schemas.microsoft.com/office/powerpoint/2010/main" Requires="p14">
      <p:transition spd="fast" advClick="1" p14:dur="700">
        <p:fade/>
      </p:transition>
    </mc:Choice>
    <mc:Fallback>
      <p:transition spd="fast" advClick="1">
        <p:fade/>
      </p:transition>
    </mc:Fallback>
  </mc:AlternateContent>
</p:sld>
</file>

<file path=ppt/slides/slide2.xml><?xml version="1.0" encoding="utf-8"?>
<p:sld xmlns:p="http://schemas.openxmlformats.org/presentationml/2006/main" xmlns:a14="http://schemas.microsoft.com/office/drawing/2010/main" xmlns:m="http://schemas.openxmlformats.org/officeDocument/2006/math" xmlns:mc="http://schemas.openxmlformats.org/markup-compatibility/2006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db1d8434d41a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!!DARKEN">
            <a:extLst xmlns:a="http://schemas.openxmlformats.org/drawingml/2006/main">
              <a:ext uri="{FF2B5EF4-FFF2-40B4-BE49-F238E27FC236}">
                <a16:creationId xmlns:a16="http://schemas.microsoft.com/office/drawing/2014/main" id="{EF955D46-9630-49CA-92D4-2CEEC78D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21">
              <a:alpha val="1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!!NAV_GLASS">
            <a:extLst xmlns:a="http://schemas.openxmlformats.org/drawingml/2006/main">
              <a:ext uri="{FF2B5EF4-FFF2-40B4-BE49-F238E27FC236}">
                <a16:creationId xmlns:a16="http://schemas.microsoft.com/office/drawing/2014/main" id="{2FC00DFF-BB6D-486E-BB93-6AF9B190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590550"/>
          </a:xfrm>
          <a:prstGeom xmlns:a="http://schemas.openxmlformats.org/drawingml/2006/main" prst="roundRect">
            <a:avLst>
              <a:gd name="adj" fmla="val 35484"/>
            </a:avLst>
          </a:prstGeom>
          <a:solidFill xmlns:a="http://schemas.openxmlformats.org/drawingml/2006/main">
            <a:srgbClr val="F1F7FF">
              <a:alpha val="7000"/>
            </a:srgbClr>
          </a:solidFill>
          <a:ln xmlns:a="http://schemas.openxmlformats.org/drawingml/2006/main" w="9525">
            <a:solidFill>
              <a:srgbClr val="F1F7FF">
                <a:alpha val="17000"/>
              </a:srgbClr>
            </a:solidFill>
          </a:ln>
        </p:spPr>
      </p:sp>
      <p:sp>
        <p:nvSpPr>
          <p:cNvPr id="4" name="!!ACTIVE_TAB">
            <a:extLst xmlns:a="http://schemas.openxmlformats.org/drawingml/2006/main">
              <a:ext uri="{FF2B5EF4-FFF2-40B4-BE49-F238E27FC236}">
                <a16:creationId xmlns:a16="http://schemas.microsoft.com/office/drawing/2014/main" id="{D023B948-DE06-4516-94F1-1D59EA8C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3850"/>
            <a:ext cx="26670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2B8FF">
              <a:alpha val="23000"/>
            </a:srgbClr>
          </a:solidFill>
          <a:ln xmlns:a="http://schemas.openxmlformats.org/drawingml/2006/main" w="9525">
            <a:solidFill>
              <a:srgbClr val="82B8FF">
                <a:alpha val="55000"/>
              </a:srgbClr>
            </a:solidFill>
          </a:ln>
        </p:spPr>
      </p:sp>
      <p:sp>
        <p:nvSpPr>
          <p:cNvPr id="5" name="NAV_1">
            <ns0:hlinkClick xmlns:ns0="http://schemas.openxmlformats.org/drawingml/2006/main" xmlns:ns1="http://schemas.openxmlformats.org/officeDocument/2006/relationships" ns1:id="rId1" action="ppaction://hlinksldjump" tooltip="Go to section 1"/>
            <a:extLst xmlns:a="http://schemas.openxmlformats.org/drawingml/2006/main">
              <a:ext uri="{FF2B5EF4-FFF2-40B4-BE49-F238E27FC236}">
                <a16:creationId xmlns:a16="http://schemas.microsoft.com/office/drawing/2014/main" id="{C02D11D2-9D3E-431E-A24D-76F396AB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rPr>
              <a:t>Matematika</a:t>
            </a:r>
          </a:p>
        </p:txBody>
      </p:sp>
      <p:sp>
        <p:nvSpPr>
          <p:cNvPr id="6" name="NAV_2">
            <ns0:hlinkClick xmlns:ns0="http://schemas.openxmlformats.org/drawingml/2006/main" xmlns:ns1="http://schemas.openxmlformats.org/officeDocument/2006/relationships" ns1:id="rId2" action="ppaction://hlinksldjump" tooltip="Go to section 2"/>
            <a:extLst xmlns:a="http://schemas.openxmlformats.org/drawingml/2006/main">
              <a:ext uri="{FF2B5EF4-FFF2-40B4-BE49-F238E27FC236}">
                <a16:creationId xmlns:a16="http://schemas.microsoft.com/office/drawing/2014/main" id="{0E2480B1-D73C-4C0D-AA3C-585193C2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8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Fizika</a:t>
            </a:r>
          </a:p>
        </p:txBody>
      </p:sp>
      <p:sp>
        <p:nvSpPr>
          <p:cNvPr id="7" name="NAV_3">
            <ns0:hlinkClick xmlns:ns0="http://schemas.openxmlformats.org/drawingml/2006/main" xmlns:ns1="http://schemas.openxmlformats.org/officeDocument/2006/relationships" ns1:id="rId3" action="ppaction://hlinksldjump" tooltip="Go to section 3"/>
            <a:extLst xmlns:a="http://schemas.openxmlformats.org/drawingml/2006/main">
              <a:ext uri="{FF2B5EF4-FFF2-40B4-BE49-F238E27FC236}">
                <a16:creationId xmlns:a16="http://schemas.microsoft.com/office/drawing/2014/main" id="{6E4798DE-C664-445C-B588-80CEBE38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rPr>
              <a:t>Kimyo</a:t>
            </a:r>
          </a:p>
        </p:txBody>
      </p:sp>
      <p:sp>
        <p:nvSpPr>
          <p:cNvPr id="8" name="NAV_4">
            <ns0:hlinkClick xmlns:ns0="http://schemas.openxmlformats.org/drawingml/2006/main" xmlns:ns1="http://schemas.openxmlformats.org/officeDocument/2006/relationships" ns1:id="rId4" action="ppaction://hlinksldjump" tooltip="Go to section 4"/>
            <a:extLst xmlns:a="http://schemas.openxmlformats.org/drawingml/2006/main">
              <a:ext uri="{FF2B5EF4-FFF2-40B4-BE49-F238E27FC236}">
                <a16:creationId xmlns:a16="http://schemas.microsoft.com/office/drawing/2014/main" id="{70B07DA2-5926-481D-8FA1-07BEE6EF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8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rPr>
              <a:t>Biologiya</a:t>
            </a:r>
          </a:p>
        </p:txBody>
      </p:sp>
      <p:sp>
        <p:nvSpPr>
          <p:cNvPr id="9" name="!!TITLE">
            <a:extLst xmlns:a="http://schemas.openxmlformats.org/drawingml/2006/main">
              <a:ext uri="{FF2B5EF4-FFF2-40B4-BE49-F238E27FC236}">
                <a16:creationId xmlns:a16="http://schemas.microsoft.com/office/drawing/2014/main" id="{54F187B2-D616-489F-8D6E-0994B01A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Butun olam tortishish qonuni</a:t>
            </a:r>
          </a:p>
        </p:txBody>
      </p:sp>
      <p:sp>
        <p:nvSpPr>
          <p:cNvPr id="10" name="!!INTRO">
            <a:extLst xmlns:a="http://schemas.openxmlformats.org/drawingml/2006/main">
              <a:ext uri="{FF2B5EF4-FFF2-40B4-BE49-F238E27FC236}">
                <a16:creationId xmlns:a16="http://schemas.microsoft.com/office/drawing/2014/main" id="{75831998-AAB1-471C-8E24-9E259EA2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09775"/>
            <a:ext cx="1064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6E1ED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D6E1ED"/>
                </a:solidFill>
                <a:latin typeface="DejaVu Sans"/>
                <a:ea typeface="DejaVu Sans"/>
                <a:cs typeface="DejaVu Sans"/>
              </a:rPr>
              <a:t>Massalar ortsa tortishish kuchayadi, ular orasidagi masofa ortsa kamayadi.</a:t>
            </a:r>
          </a:p>
        </p:txBody>
      </p:sp>
      <p:sp>
        <p:nvSpPr>
          <p:cNvPr id="11" name="!!FORMULA_GLASS">
            <a:extLst xmlns:a="http://schemas.openxmlformats.org/drawingml/2006/main">
              <a:ext uri="{FF2B5EF4-FFF2-40B4-BE49-F238E27FC236}">
                <a16:creationId xmlns:a16="http://schemas.microsoft.com/office/drawing/2014/main" id="{FDD5C7AE-BC90-4E20-BF69-7FF7899B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744200" cy="1752600"/>
          </a:xfrm>
          <a:prstGeom xmlns:a="http://schemas.openxmlformats.org/drawingml/2006/main" prst="roundRect">
            <a:avLst>
              <a:gd name="adj" fmla="val 15217"/>
            </a:avLst>
          </a:prstGeom>
          <a:gradFill xmlns:a="http://schemas.openxmlformats.org/drawingml/2006/main">
            <a:gsLst>
              <a:gs pos="0">
                <a:srgbClr val="F4FCFF">
                  <a:alpha val="13000"/>
                </a:srgbClr>
              </a:gs>
              <a:gs pos="100000">
                <a:srgbClr val="DCE5FF">
                  <a:alpha val="5000"/>
                </a:srgbClr>
              </a:gs>
            </a:gsLst>
            <a:lin ang="8100000"/>
          </a:gradFill>
          <a:ln xmlns:a="http://schemas.openxmlformats.org/drawingml/2006/main" w="9525">
            <a:solidFill>
              <a:srgbClr val="F4FCFF">
                <a:alpha val="28000"/>
              </a:srgbClr>
            </a:solidFill>
          </a:ln>
        </p:spPr>
      </p:sp>
      <mc:AlternateContent>
        <mc:Choice Requires="a14">
          <p:sp>
            <p:nvSpPr>
              <p:cNvPr id="12" name="EQ_MAIN" descr="F = Gm₁m₂/r² — editable Office Math 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F9DFB41C-66BF-4219-8363-C2ABCC2BDFB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28750" y="2800350"/>
                <a:ext cx="9334500" cy="1190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ns0:p xmlns:ns0="http://schemas.openxmlformats.org/drawingml/2006/main">
                <ns0:pPr algn="ctr">
                  <ns0:defRPr sz="4000" b="0" lang="en-US">
                    <ns0:solidFill>
                      <ns0:srgbClr val="F6F8FF"/>
                    </ns0:solidFill>
                    <ns0:latin typeface="Cambria Math"/>
                    <ns0:ea typeface="Cambria Math"/>
                    <ns0:cs typeface="Cambria Math"/>
                  </ns0:defRPr>
                </ns0:pPr>
                <a14:m>
                  <m:oMathPara>
                    <m:oMathParaPr>
                      <m:jc m:val="center"/>
                    </m:oMathParaPr>
                    <m:oMath>
                      <m:r>
                        <m:rPr>
                          <m:sty m:val="i"/>
                        </m:rPr>
                        <ns0:rPr sz="40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F</m:t>
                      </m:r>
                      <m:r>
                        <m:rPr>
                          <m:sty m:val="p"/>
                        </m:rPr>
                        <ns0:rPr sz="40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=</m:t>
                      </m:r>
                      <m:r>
                        <m:rPr>
                          <m:sty m:val="i"/>
                        </m:rPr>
                        <ns0:rPr sz="40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G</m:t>
                      </m:r>
                      <m:f>
                        <m:fPr>
                          <m:type m:val="bar"/>
                          <m:ctrlPr>
                            <ns0:rPr sz="40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</m:ctrlPr>
                        </m:fPr>
                        <m:num>
                          <m:sSub>
                            <m:sSubPr>
                              <m:ctrlPr>
                                <ns0:rPr sz="40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ns0:rPr sz="40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ns0:rPr sz="40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ns0:rPr sz="40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ns0:rPr sz="40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ns0:rPr sz="40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ns0:rPr sz="40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ns0:rPr sz="40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  <m:t>r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ns0:rPr sz="40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ns0:endParaRPr sz="4000" b="0" lang="en-US">
                  <ns0:solidFill>
                    <ns0:srgbClr val="F6F8FF"/>
                  </ns0:solidFill>
                  <ns0:latin typeface="Cambria Math"/>
                  <ns0:ea typeface="Cambria Math"/>
                  <ns0:cs typeface="Cambria Math"/>
                </ns0:endParaRPr>
              </ns0:p>
            </p:txBody>
          </p:sp>
        </mc:Choice>
        <mc:Fallback>
          <p:sp>
            <p:nvSpPr>
              <p:cNvPr id="19" name="EQ_MAIN_FALLBACK" descr="F = Gm₁m₂/r² — compatibility image">
                <a:extLst xmlns:a="http://schemas.openxmlformats.org/drawingml/2006/main">
                  <a:ext uri="{FF2B5EF4-FFF2-40B4-BE49-F238E27FC236}">
                    <a16:creationId xmlns:a16="http://schemas.microsoft.com/office/drawing/2014/main" id="{F9DFB41C-66BF-4219-8363-C2ABCC2BDFB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28750" y="2800350"/>
                <a:ext cx="9334500" cy="11906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 dpi="0" rotWithShape="1">
                <ns0:blip xmlns:ns1="http://schemas.openxmlformats.org/officeDocument/2006/relationships" ns1:embed="rIdEq1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3" name="!!EXAMPLE_GLASS">
            <a:extLst xmlns:a="http://schemas.openxmlformats.org/drawingml/2006/main">
              <a:ext uri="{FF2B5EF4-FFF2-40B4-BE49-F238E27FC236}">
                <a16:creationId xmlns:a16="http://schemas.microsoft.com/office/drawing/2014/main" id="{845CB910-1E6D-47F5-BDFF-5E8D2511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0744200" cy="1390650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4FCFF">
              <a:alpha val="7000"/>
            </a:srgbClr>
          </a:solidFill>
          <a:ln xmlns:a="http://schemas.openxmlformats.org/drawingml/2006/main" w="9525">
            <a:solidFill>
              <a:srgbClr val="F4FCFF">
                <a:alpha val="19000"/>
              </a:srgbClr>
            </a:solidFill>
          </a:ln>
        </p:spPr>
      </p:sp>
      <p:sp>
        <p:nvSpPr>
          <p:cNvPr id="14" name="!!EXAMPLE_LABEL">
            <a:extLst xmlns:a="http://schemas.openxmlformats.org/drawingml/2006/main">
              <a:ext uri="{FF2B5EF4-FFF2-40B4-BE49-F238E27FC236}">
                <a16:creationId xmlns:a16="http://schemas.microsoft.com/office/drawing/2014/main" id="{6B5C864E-58FD-4D30-85AA-49D38CCE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2B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2B8FF"/>
                </a:solidFill>
                <a:latin typeface="DejaVu Sans"/>
                <a:ea typeface="DejaVu Sans"/>
                <a:cs typeface="DejaVu Sans"/>
              </a:rPr>
              <a:t>MISOL</a:t>
            </a:r>
          </a:p>
        </p:txBody>
      </p:sp>
      <mc:AlternateContent>
        <mc:Choice Requires="a14">
          <p:sp>
            <p:nvSpPr>
              <p:cNvPr id="15" name="EQ_SECONDARY" descr="m₁ = m₂ = 1 kg, r = 1 m  ⇒  F ≈ 6.674 × 10⁻¹¹ N — editable Office Math 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A887D520-19A5-4888-A8C8-F7211CA225D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90600" y="5010150"/>
                <a:ext cx="10210800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ns0:p xmlns:ns0="http://schemas.openxmlformats.org/drawingml/2006/main">
                <ns0:pPr algn="ctr">
                  <ns0:defRPr sz="2600" b="0" lang="en-US">
                    <ns0:solidFill>
                      <ns0:srgbClr val="F6F8FF"/>
                    </ns0:solidFill>
                    <ns0:latin typeface="Cambria Math"/>
                    <ns0:ea typeface="Cambria Math"/>
                    <ns0:cs typeface="Cambria Math"/>
                  </ns0:defRPr>
                </ns0:pPr>
                <a14:m>
                  <m:oMathPara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=</m:t>
                      </m:r>
                      <m:sSub>
                        <m:sSubPr>
                          <m:ctrl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 xml:space="preserve">=1 kg,  </m:t>
                      </m:r>
                      <m:r>
                        <m:rPr>
                          <m:sty m:val="i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r</m:t>
                      </m:r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=1 m</m:t>
                      </m:r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 xml:space="preserve">  ⇒  </m:t>
                      </m:r>
                      <m:r>
                        <m:rPr>
                          <m:sty m:val="i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F</m:t>
                      </m:r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≈6.674×</m:t>
                      </m:r>
                      <m:sSup>
                        <m:sSupPr>
                          <m:ctrl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−11</m:t>
                          </m:r>
                        </m:sup>
                      </m:sSup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 xml:space="preserve"> N</m:t>
                      </m:r>
                    </m:oMath>
                  </m:oMathPara>
                </a14:m>
                <ns0:endParaRPr sz="2600" b="0" lang="en-US">
                  <ns0:solidFill>
                    <ns0:srgbClr val="F6F8FF"/>
                  </ns0:solidFill>
                  <ns0:latin typeface="Cambria Math"/>
                  <ns0:ea typeface="Cambria Math"/>
                  <ns0:cs typeface="Cambria Math"/>
                </ns0:endParaRPr>
              </ns0:p>
            </p:txBody>
          </p:sp>
        </mc:Choice>
        <mc:Fallback>
          <p:sp>
            <p:nvSpPr>
              <p:cNvPr id="20" name="EQ_SECONDARY_FALLBACK" descr="m₁ = m₂ = 1 kg, r = 1 m  ⇒  F ≈ 6.674 × 10⁻¹¹ N — compatibility image">
                <a:extLst xmlns:a="http://schemas.openxmlformats.org/drawingml/2006/main">
                  <a:ext uri="{FF2B5EF4-FFF2-40B4-BE49-F238E27FC236}">
                    <a16:creationId xmlns:a16="http://schemas.microsoft.com/office/drawing/2014/main" id="{A887D520-19A5-4888-A8C8-F7211CA225D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90600" y="5010150"/>
                <a:ext cx="10210800" cy="7239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 dpi="0" rotWithShape="1">
                <ns0:blip xmlns:ns1="http://schemas.openxmlformats.org/officeDocument/2006/relationships" ns1:embed="rIdEq2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6" name="!!DEFINITIONS">
            <a:extLst xmlns:a="http://schemas.openxmlformats.org/drawingml/2006/main">
              <a:ext uri="{FF2B5EF4-FFF2-40B4-BE49-F238E27FC236}">
                <a16:creationId xmlns:a16="http://schemas.microsoft.com/office/drawing/2014/main" id="{9582C353-803A-4F19-BB8E-088EF743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D4DEEA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D4DEEA"/>
                </a:solidFill>
                <a:latin typeface="DejaVu Sans"/>
                <a:ea typeface="DejaVu Sans"/>
                <a:cs typeface="DejaVu Sans"/>
              </a:rPr>
              <a:t>F — kuch; G — gravitatsion doimiy; m₁, m₂ — massalar; r — markazlar oralig‘i.</a:t>
            </a:r>
          </a:p>
        </p:txBody>
      </p:sp>
      <p:sp>
        <p:nvSpPr>
          <p:cNvPr id="17" name="!!COUNTER">
            <a:extLst xmlns:a="http://schemas.openxmlformats.org/drawingml/2006/main">
              <a:ext uri="{FF2B5EF4-FFF2-40B4-BE49-F238E27FC236}">
                <a16:creationId xmlns:a16="http://schemas.microsoft.com/office/drawing/2014/main" id="{CC3004E6-9BF5-45FA-8BEC-1A9BD9F3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C4D0E0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C4D0E0"/>
                </a:solidFill>
                <a:latin typeface="DejaVu Sans"/>
                <a:ea typeface="DejaVu Sans"/>
                <a:cs typeface="DejaVu Sans"/>
              </a:rPr>
              <a:t>2 / 4</a:t>
            </a:r>
          </a:p>
        </p:txBody>
      </p:sp>
    </p:spTree>
    <p:extLst>
      <p:ext uri="{BB962C8B-B14F-4D97-AF65-F5344CB8AC3E}">
        <p14:creationId xmlns:p14="http://schemas.microsoft.com/office/powerpoint/2010/main" val="1526208542"/>
      </p:ext>
    </p:extLst>
  </p:cSld>
  <mc:AlternateContent>
    <mc:Choice xmlns:p159="http://schemas.microsoft.com/office/powerpoint/2015/09/main" xmlns:p14="http://schemas.microsoft.com/office/powerpoint/2010/main" Requires="p159 p14">
      <p:transition spd="fast" advClick="1" p14:dur="700">
        <p159:morph option="byObject"/>
      </p:transition>
    </mc:Choice>
    <mc:Choice xmlns:p14="http://schemas.microsoft.com/office/powerpoint/2010/main" Requires="p14">
      <p:transition spd="fast" advClick="1" p14:dur="700">
        <p:fade/>
      </p:transition>
    </mc:Choice>
    <mc:Fallback>
      <p:transition spd="fast" advClick="1">
        <p:fade/>
      </p:transition>
    </mc:Fallback>
  </mc:AlternateContent>
</p:sld>
</file>

<file path=ppt/slides/slide3.xml><?xml version="1.0" encoding="utf-8"?>
<p:sld xmlns:p="http://schemas.openxmlformats.org/presentationml/2006/main" xmlns:a14="http://schemas.microsoft.com/office/drawing/2010/main" xmlns:m="http://schemas.openxmlformats.org/officeDocument/2006/math" xmlns:mc="http://schemas.openxmlformats.org/markup-compatibility/2006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b8b88e1d9408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!!DARKEN">
            <a:extLst xmlns:a="http://schemas.openxmlformats.org/drawingml/2006/main">
              <a:ext uri="{FF2B5EF4-FFF2-40B4-BE49-F238E27FC236}">
                <a16:creationId xmlns:a16="http://schemas.microsoft.com/office/drawing/2014/main" id="{02410D8F-8F5D-4BED-92AA-E2B80C41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21">
              <a:alpha val="1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!!NAV_GLASS">
            <a:extLst xmlns:a="http://schemas.openxmlformats.org/drawingml/2006/main">
              <a:ext uri="{FF2B5EF4-FFF2-40B4-BE49-F238E27FC236}">
                <a16:creationId xmlns:a16="http://schemas.microsoft.com/office/drawing/2014/main" id="{F1B5CBFB-ED9E-42DA-8911-EC05F1F1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590550"/>
          </a:xfrm>
          <a:prstGeom xmlns:a="http://schemas.openxmlformats.org/drawingml/2006/main" prst="roundRect">
            <a:avLst>
              <a:gd name="adj" fmla="val 35484"/>
            </a:avLst>
          </a:prstGeom>
          <a:solidFill xmlns:a="http://schemas.openxmlformats.org/drawingml/2006/main">
            <a:srgbClr val="F1F7FF">
              <a:alpha val="7000"/>
            </a:srgbClr>
          </a:solidFill>
          <a:ln xmlns:a="http://schemas.openxmlformats.org/drawingml/2006/main" w="9525">
            <a:solidFill>
              <a:srgbClr val="F1F7FF">
                <a:alpha val="17000"/>
              </a:srgbClr>
            </a:solidFill>
          </a:ln>
        </p:spPr>
      </p:sp>
      <p:sp>
        <p:nvSpPr>
          <p:cNvPr id="4" name="!!ACTIVE_TAB">
            <a:extLst xmlns:a="http://schemas.openxmlformats.org/drawingml/2006/main">
              <a:ext uri="{FF2B5EF4-FFF2-40B4-BE49-F238E27FC236}">
                <a16:creationId xmlns:a16="http://schemas.microsoft.com/office/drawing/2014/main" id="{31791A37-9468-4AF6-9675-30A1903C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"/>
            <a:ext cx="26670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7A0FF">
              <a:alpha val="23000"/>
            </a:srgbClr>
          </a:solidFill>
          <a:ln xmlns:a="http://schemas.openxmlformats.org/drawingml/2006/main" w="9525">
            <a:solidFill>
              <a:srgbClr val="C7A0FF">
                <a:alpha val="55000"/>
              </a:srgbClr>
            </a:solidFill>
          </a:ln>
        </p:spPr>
      </p:sp>
      <p:sp>
        <p:nvSpPr>
          <p:cNvPr id="5" name="NAV_1">
            <ns0:hlinkClick xmlns:ns0="http://schemas.openxmlformats.org/drawingml/2006/main" xmlns:ns1="http://schemas.openxmlformats.org/officeDocument/2006/relationships" ns1:id="rId1" action="ppaction://hlinksldjump" tooltip="Go to section 1"/>
            <a:extLst xmlns:a="http://schemas.openxmlformats.org/drawingml/2006/main">
              <a:ext uri="{FF2B5EF4-FFF2-40B4-BE49-F238E27FC236}">
                <a16:creationId xmlns:a16="http://schemas.microsoft.com/office/drawing/2014/main" id="{15D62C97-F5DC-4D74-B285-BAC6F72E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rPr>
              <a:t>Matematika</a:t>
            </a:r>
          </a:p>
        </p:txBody>
      </p:sp>
      <p:sp>
        <p:nvSpPr>
          <p:cNvPr id="6" name="NAV_2">
            <ns0:hlinkClick xmlns:ns0="http://schemas.openxmlformats.org/drawingml/2006/main" xmlns:ns1="http://schemas.openxmlformats.org/officeDocument/2006/relationships" ns1:id="rId2" action="ppaction://hlinksldjump" tooltip="Go to section 2"/>
            <a:extLst xmlns:a="http://schemas.openxmlformats.org/drawingml/2006/main">
              <a:ext uri="{FF2B5EF4-FFF2-40B4-BE49-F238E27FC236}">
                <a16:creationId xmlns:a16="http://schemas.microsoft.com/office/drawing/2014/main" id="{3FA9F72A-26AF-4C4F-9CC5-4B94AAA2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8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rPr>
              <a:t>Fizika</a:t>
            </a:r>
          </a:p>
        </p:txBody>
      </p:sp>
      <p:sp>
        <p:nvSpPr>
          <p:cNvPr id="7" name="NAV_3">
            <ns0:hlinkClick xmlns:ns0="http://schemas.openxmlformats.org/drawingml/2006/main" xmlns:ns1="http://schemas.openxmlformats.org/officeDocument/2006/relationships" ns1:id="rId3" action="ppaction://hlinksldjump" tooltip="Go to section 3"/>
            <a:extLst xmlns:a="http://schemas.openxmlformats.org/drawingml/2006/main">
              <a:ext uri="{FF2B5EF4-FFF2-40B4-BE49-F238E27FC236}">
                <a16:creationId xmlns:a16="http://schemas.microsoft.com/office/drawing/2014/main" id="{DBEA1A90-0641-45CB-BDE9-A972945F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Kimyo</a:t>
            </a:r>
          </a:p>
        </p:txBody>
      </p:sp>
      <p:sp>
        <p:nvSpPr>
          <p:cNvPr id="8" name="NAV_4">
            <ns0:hlinkClick xmlns:ns0="http://schemas.openxmlformats.org/drawingml/2006/main" xmlns:ns1="http://schemas.openxmlformats.org/officeDocument/2006/relationships" ns1:id="rId4" action="ppaction://hlinksldjump" tooltip="Go to section 4"/>
            <a:extLst xmlns:a="http://schemas.openxmlformats.org/drawingml/2006/main">
              <a:ext uri="{FF2B5EF4-FFF2-40B4-BE49-F238E27FC236}">
                <a16:creationId xmlns:a16="http://schemas.microsoft.com/office/drawing/2014/main" id="{27785588-16A1-4B00-B466-EFB8ABE0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8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rPr>
              <a:t>Biologiya</a:t>
            </a:r>
          </a:p>
        </p:txBody>
      </p:sp>
      <p:sp>
        <p:nvSpPr>
          <p:cNvPr id="9" name="!!TITLE">
            <a:extLst xmlns:a="http://schemas.openxmlformats.org/drawingml/2006/main">
              <a:ext uri="{FF2B5EF4-FFF2-40B4-BE49-F238E27FC236}">
                <a16:creationId xmlns:a16="http://schemas.microsoft.com/office/drawing/2014/main" id="{3B6A6BF2-D42F-40DB-8087-9409574F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Eritmaning pH ko‘rsatkichi</a:t>
            </a:r>
          </a:p>
        </p:txBody>
      </p:sp>
      <p:sp>
        <p:nvSpPr>
          <p:cNvPr id="10" name="!!INTRO">
            <a:extLst xmlns:a="http://schemas.openxmlformats.org/drawingml/2006/main">
              <a:ext uri="{FF2B5EF4-FFF2-40B4-BE49-F238E27FC236}">
                <a16:creationId xmlns:a16="http://schemas.microsoft.com/office/drawing/2014/main" id="{FF0B820F-544A-4B8B-98AE-C9C9E569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09775"/>
            <a:ext cx="1064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6E1ED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D6E1ED"/>
                </a:solidFill>
                <a:latin typeface="DejaVu Sans"/>
                <a:ea typeface="DejaVu Sans"/>
                <a:cs typeface="DejaVu Sans"/>
              </a:rPr>
              <a:t>Suyultirilgan eritmada H⁺ konsentratsiyasi oshgani sari pH kamayadi.</a:t>
            </a:r>
          </a:p>
        </p:txBody>
      </p:sp>
      <p:sp>
        <p:nvSpPr>
          <p:cNvPr id="11" name="!!FORMULA_GLASS">
            <a:extLst xmlns:a="http://schemas.openxmlformats.org/drawingml/2006/main">
              <a:ext uri="{FF2B5EF4-FFF2-40B4-BE49-F238E27FC236}">
                <a16:creationId xmlns:a16="http://schemas.microsoft.com/office/drawing/2014/main" id="{20F38C56-0C61-4790-B6B8-FC293B64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744200" cy="1752600"/>
          </a:xfrm>
          <a:prstGeom xmlns:a="http://schemas.openxmlformats.org/drawingml/2006/main" prst="roundRect">
            <a:avLst>
              <a:gd name="adj" fmla="val 15217"/>
            </a:avLst>
          </a:prstGeom>
          <a:gradFill xmlns:a="http://schemas.openxmlformats.org/drawingml/2006/main">
            <a:gsLst>
              <a:gs pos="0">
                <a:srgbClr val="F4FCFF">
                  <a:alpha val="13000"/>
                </a:srgbClr>
              </a:gs>
              <a:gs pos="100000">
                <a:srgbClr val="DCE5FF">
                  <a:alpha val="5000"/>
                </a:srgbClr>
              </a:gs>
            </a:gsLst>
            <a:lin ang="8100000"/>
          </a:gradFill>
          <a:ln xmlns:a="http://schemas.openxmlformats.org/drawingml/2006/main" w="9525">
            <a:solidFill>
              <a:srgbClr val="F4FCFF">
                <a:alpha val="28000"/>
              </a:srgbClr>
            </a:solidFill>
          </a:ln>
        </p:spPr>
      </p:sp>
      <mc:AlternateContent>
        <mc:Choice Requires="a14">
          <p:sp>
            <p:nvSpPr>
              <p:cNvPr id="12" name="EQ_MAIN" descr="pH ≈ −log₁₀([H⁺]/(1 mol/L)) — editable Office Math 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82E7C8FF-3F1F-4FC6-B69E-8C85F034118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28750" y="2800350"/>
                <a:ext cx="9334500" cy="1190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ns0:p xmlns:ns0="http://schemas.openxmlformats.org/drawingml/2006/main">
                <ns0:pPr algn="ctr">
                  <ns0:defRPr sz="4000" b="0" lang="en-US">
                    <ns0:solidFill>
                      <ns0:srgbClr val="F6F8FF"/>
                    </ns0:solidFill>
                    <ns0:latin typeface="Cambria Math"/>
                    <ns0:ea typeface="Cambria Math"/>
                    <ns0:cs typeface="Cambria Math"/>
                  </ns0:defRPr>
                </ns0:pPr>
                <a14:m>
                  <m:oMathPara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ns0:rPr sz="40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pH≈−</m:t>
                      </m:r>
                      <m:func>
                        <m:funcPr>
                          <m:ctrlPr>
                            <ns0:rPr sz="40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</m:ctrlPr>
                        </m:funcPr>
                        <m:fName>
                          <m:sSub>
                            <m:sSubPr>
                              <m:ctrlPr>
                                <ns0:rPr sz="40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ns0:rPr sz="40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  <m:t>log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ns0:rPr sz="40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("/>
                              <m:endChr m:val=")"/>
                              <m:ctrlPr>
                                <ns0:rPr sz="40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ns0:rPr sz="4000" b="0" lang="en-US">
                                      <ns0:solidFill>
                                        <ns0:srgbClr val="F6F8FF"/>
                                      </ns0:solidFill>
                                      <ns0:latin typeface="Cambria Math"/>
                                      <ns0:ea typeface="Cambria Math"/>
                                      <ns0:cs typeface="Cambria Math"/>
                                    </ns0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ns0:rPr sz="4000" b="0" lang="en-US">
                                          <ns0:solidFill>
                                            <ns0:srgbClr val="F6F8FF"/>
                                          </ns0:solidFill>
                                          <ns0:latin typeface="Cambria Math"/>
                                          <ns0:ea typeface="Cambria Math"/>
                                          <ns0:cs typeface="Cambria Math"/>
                                        </ns0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ns0:rPr sz="4000" b="0" lang="en-US">
                                              <ns0:solidFill>
                                                <ns0:srgbClr val="F6F8FF"/>
                                              </ns0:solidFill>
                                              <ns0:latin typeface="Cambria Math"/>
                                              <ns0:ea typeface="Cambria Math"/>
                                              <ns0:cs typeface="Cambria Math"/>
                                            </ns0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ns0:rPr sz="4000" b="0" lang="en-US">
                                              <ns0:solidFill>
                                                <ns0:srgbClr val="F6F8FF"/>
                                              </ns0:solidFill>
                                              <ns0:latin typeface="Cambria Math"/>
                                              <ns0:ea typeface="Cambria Math"/>
                                              <ns0:cs typeface="Cambria Math"/>
                                            </ns0:rPr>
                                            <m:t>H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ns0:rPr sz="4000" b="0" lang="en-US">
                                              <ns0:solidFill>
                                                <ns0:srgbClr val="F6F8FF"/>
                                              </ns0:solidFill>
                                              <ns0:latin typeface="Cambria Math"/>
                                              <ns0:ea typeface="Cambria Math"/>
                                              <ns0:cs typeface="Cambria Math"/>
                                            </ns0:rPr>
                                            <m:t>+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ns0:rPr sz="4000" b="0" lang="en-US">
                                      <ns0:solidFill>
                                        <ns0:srgbClr val="F6F8FF"/>
                                      </ns0:solidFill>
                                      <ns0:latin typeface="Cambria Math"/>
                                      <ns0:ea typeface="Cambria Math"/>
                                      <ns0:cs typeface="Cambria Math"/>
                                    </ns0:rPr>
                                    <m:t>1 mol/L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ns0:endParaRPr sz="4000" b="0" lang="en-US">
                  <ns0:solidFill>
                    <ns0:srgbClr val="F6F8FF"/>
                  </ns0:solidFill>
                  <ns0:latin typeface="Cambria Math"/>
                  <ns0:ea typeface="Cambria Math"/>
                  <ns0:cs typeface="Cambria Math"/>
                </ns0:endParaRPr>
              </ns0:p>
            </p:txBody>
          </p:sp>
        </mc:Choice>
        <mc:Fallback>
          <p:sp>
            <p:nvSpPr>
              <p:cNvPr id="19" name="EQ_MAIN_FALLBACK" descr="pH ≈ −log₁₀([H⁺]/(1 mol/L)) — compatibility image">
                <a:extLst xmlns:a="http://schemas.openxmlformats.org/drawingml/2006/main">
                  <a:ext uri="{FF2B5EF4-FFF2-40B4-BE49-F238E27FC236}">
                    <a16:creationId xmlns:a16="http://schemas.microsoft.com/office/drawing/2014/main" id="{82E7C8FF-3F1F-4FC6-B69E-8C85F034118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28750" y="2800350"/>
                <a:ext cx="9334500" cy="11906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 dpi="0" rotWithShape="1">
                <ns0:blip xmlns:ns1="http://schemas.openxmlformats.org/officeDocument/2006/relationships" ns1:embed="rIdEq1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3" name="!!EXAMPLE_GLASS">
            <a:extLst xmlns:a="http://schemas.openxmlformats.org/drawingml/2006/main">
              <a:ext uri="{FF2B5EF4-FFF2-40B4-BE49-F238E27FC236}">
                <a16:creationId xmlns:a16="http://schemas.microsoft.com/office/drawing/2014/main" id="{FB8BB655-94B2-49B5-B0C2-25EC3E10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0744200" cy="1390650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4FCFF">
              <a:alpha val="7000"/>
            </a:srgbClr>
          </a:solidFill>
          <a:ln xmlns:a="http://schemas.openxmlformats.org/drawingml/2006/main" w="9525">
            <a:solidFill>
              <a:srgbClr val="F4FCFF">
                <a:alpha val="19000"/>
              </a:srgbClr>
            </a:solidFill>
          </a:ln>
        </p:spPr>
      </p:sp>
      <p:sp>
        <p:nvSpPr>
          <p:cNvPr id="14" name="!!EXAMPLE_LABEL">
            <a:extLst xmlns:a="http://schemas.openxmlformats.org/drawingml/2006/main">
              <a:ext uri="{FF2B5EF4-FFF2-40B4-BE49-F238E27FC236}">
                <a16:creationId xmlns:a16="http://schemas.microsoft.com/office/drawing/2014/main" id="{80990AF9-EE0B-4D07-8F37-4B46345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A0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C7A0FF"/>
                </a:solidFill>
                <a:latin typeface="DejaVu Sans"/>
                <a:ea typeface="DejaVu Sans"/>
                <a:cs typeface="DejaVu Sans"/>
              </a:rPr>
              <a:t>MISOL</a:t>
            </a:r>
          </a:p>
        </p:txBody>
      </p:sp>
      <mc:AlternateContent>
        <mc:Choice Requires="a14">
          <p:sp>
            <p:nvSpPr>
              <p:cNvPr id="15" name="EQ_SECONDARY" descr="[H⁺] = 10⁻³ mol/L  ⇒  pH ≈ 3 — editable Office Math 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FEE8CA2B-C7A8-4536-AB77-0859566B94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90600" y="5010150"/>
                <a:ext cx="10210800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ns0:p xmlns:ns0="http://schemas.openxmlformats.org/drawingml/2006/main">
                <ns0:pPr algn="ctr">
                  <ns0:defRPr sz="2600" b="0" lang="en-US">
                    <ns0:solidFill>
                      <ns0:srgbClr val="F6F8FF"/>
                    </ns0:solidFill>
                    <ns0:latin typeface="Cambria Math"/>
                    <ns0:ea typeface="Cambria Math"/>
                    <ns0:cs typeface="Cambria Math"/>
                  </ns0:defRPr>
                </ns0:pPr>
                <a14:m>
                  <m:oMathPara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</m:ctrlPr>
                        </m:dPr>
                        <m:e>
                          <m:sSup>
                            <m:sSupPr>
                              <m:ctrlPr>
                                <ns0:rPr sz="26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ns0:rPr sz="26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  <m:t>H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ns0:rPr sz="2600" b="0" lang="en-US">
                                  <ns0:solidFill>
                                    <ns0:srgbClr val="F6F8FF"/>
                                  </ns0:solidFill>
                                  <ns0:latin typeface="Cambria Math"/>
                                  <ns0:ea typeface="Cambria Math"/>
                                  <ns0:cs typeface="Cambria Math"/>
                                </ns0:rPr>
                                <m:t>+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=</m:t>
                      </m:r>
                      <m:sSup>
                        <m:sSupPr>
                          <m:ctrl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−3</m:t>
                          </m:r>
                        </m:sup>
                      </m:sSup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 xml:space="preserve"> mol/L  ⇒  pH≈3</m:t>
                      </m:r>
                    </m:oMath>
                  </m:oMathPara>
                </a14:m>
                <ns0:endParaRPr sz="2600" b="0" lang="en-US">
                  <ns0:solidFill>
                    <ns0:srgbClr val="F6F8FF"/>
                  </ns0:solidFill>
                  <ns0:latin typeface="Cambria Math"/>
                  <ns0:ea typeface="Cambria Math"/>
                  <ns0:cs typeface="Cambria Math"/>
                </ns0:endParaRPr>
              </ns0:p>
            </p:txBody>
          </p:sp>
        </mc:Choice>
        <mc:Fallback>
          <p:sp>
            <p:nvSpPr>
              <p:cNvPr id="20" name="EQ_SECONDARY_FALLBACK" descr="[H⁺] = 10⁻³ mol/L  ⇒  pH ≈ 3 — compatibility image">
                <a:extLst xmlns:a="http://schemas.openxmlformats.org/drawingml/2006/main">
                  <a:ext uri="{FF2B5EF4-FFF2-40B4-BE49-F238E27FC236}">
                    <a16:creationId xmlns:a16="http://schemas.microsoft.com/office/drawing/2014/main" id="{FEE8CA2B-C7A8-4536-AB77-0859566B94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90600" y="5010150"/>
                <a:ext cx="10210800" cy="7239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 dpi="0" rotWithShape="1">
                <ns0:blip xmlns:ns1="http://schemas.openxmlformats.org/officeDocument/2006/relationships" ns1:embed="rIdEq2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6" name="!!DEFINITIONS">
            <a:extLst xmlns:a="http://schemas.openxmlformats.org/drawingml/2006/main">
              <a:ext uri="{FF2B5EF4-FFF2-40B4-BE49-F238E27FC236}">
                <a16:creationId xmlns:a16="http://schemas.microsoft.com/office/drawing/2014/main" id="{1916EB28-69B3-431B-8DFB-58E6694F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D4DEEA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D4DEEA"/>
                </a:solidFill>
                <a:latin typeface="DejaVu Sans"/>
                <a:ea typeface="DejaVu Sans"/>
                <a:cs typeface="DejaVu Sans"/>
              </a:rPr>
              <a:t>[H⁺] — H⁺ ionlari konsentratsiyasi (mol/L); log₁₀ — o‘n asosli logarifm.</a:t>
            </a:r>
          </a:p>
        </p:txBody>
      </p:sp>
      <p:sp>
        <p:nvSpPr>
          <p:cNvPr id="17" name="!!COUNTER">
            <a:extLst xmlns:a="http://schemas.openxmlformats.org/drawingml/2006/main">
              <a:ext uri="{FF2B5EF4-FFF2-40B4-BE49-F238E27FC236}">
                <a16:creationId xmlns:a16="http://schemas.microsoft.com/office/drawing/2014/main" id="{E5943592-AADE-4059-BAC0-7BDC94F1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C4D0E0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C4D0E0"/>
                </a:solidFill>
                <a:latin typeface="DejaVu Sans"/>
                <a:ea typeface="DejaVu Sans"/>
                <a:cs typeface="DejaVu Sans"/>
              </a:rPr>
              <a:t>3 / 4</a:t>
            </a:r>
          </a:p>
        </p:txBody>
      </p:sp>
    </p:spTree>
    <p:extLst>
      <p:ext uri="{BB962C8B-B14F-4D97-AF65-F5344CB8AC3E}">
        <p14:creationId xmlns:p14="http://schemas.microsoft.com/office/powerpoint/2010/main" val="1894809055"/>
      </p:ext>
    </p:extLst>
  </p:cSld>
  <mc:AlternateContent>
    <mc:Choice xmlns:p159="http://schemas.microsoft.com/office/powerpoint/2015/09/main" xmlns:p14="http://schemas.microsoft.com/office/powerpoint/2010/main" Requires="p159 p14">
      <p:transition spd="fast" advClick="1" p14:dur="700">
        <p159:morph option="byObject"/>
      </p:transition>
    </mc:Choice>
    <mc:Choice xmlns:p14="http://schemas.microsoft.com/office/powerpoint/2010/main" Requires="p14">
      <p:transition spd="fast" advClick="1" p14:dur="700">
        <p:fade/>
      </p:transition>
    </mc:Choice>
    <mc:Fallback>
      <p:transition spd="fast" advClick="1">
        <p:fade/>
      </p:transition>
    </mc:Fallback>
  </mc:AlternateContent>
</p:sld>
</file>

<file path=ppt/slides/slide4.xml><?xml version="1.0" encoding="utf-8"?>
<p:sld xmlns:p="http://schemas.openxmlformats.org/presentationml/2006/main" xmlns:a14="http://schemas.microsoft.com/office/drawing/2010/main" xmlns:m="http://schemas.openxmlformats.org/officeDocument/2006/math" xmlns:mc="http://schemas.openxmlformats.org/markup-compatibility/2006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e3a0bae83484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!!DARKEN">
            <a:extLst xmlns:a="http://schemas.openxmlformats.org/drawingml/2006/main">
              <a:ext uri="{FF2B5EF4-FFF2-40B4-BE49-F238E27FC236}">
                <a16:creationId xmlns:a16="http://schemas.microsoft.com/office/drawing/2014/main" id="{2EA5E045-8588-4B01-BFF7-F1B14384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A21">
              <a:alpha val="1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!!NAV_GLASS">
            <a:extLst xmlns:a="http://schemas.openxmlformats.org/drawingml/2006/main">
              <a:ext uri="{FF2B5EF4-FFF2-40B4-BE49-F238E27FC236}">
                <a16:creationId xmlns:a16="http://schemas.microsoft.com/office/drawing/2014/main" id="{38B0B8AC-C80B-4BC4-B6E6-F18DCA6A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590550"/>
          </a:xfrm>
          <a:prstGeom xmlns:a="http://schemas.openxmlformats.org/drawingml/2006/main" prst="roundRect">
            <a:avLst>
              <a:gd name="adj" fmla="val 35484"/>
            </a:avLst>
          </a:prstGeom>
          <a:solidFill xmlns:a="http://schemas.openxmlformats.org/drawingml/2006/main">
            <a:srgbClr val="F1F7FF">
              <a:alpha val="7000"/>
            </a:srgbClr>
          </a:solidFill>
          <a:ln xmlns:a="http://schemas.openxmlformats.org/drawingml/2006/main" w="9525">
            <a:solidFill>
              <a:srgbClr val="F1F7FF">
                <a:alpha val="17000"/>
              </a:srgbClr>
            </a:solidFill>
          </a:ln>
        </p:spPr>
      </p:sp>
      <p:sp>
        <p:nvSpPr>
          <p:cNvPr id="4" name="!!ACTIVE_TAB">
            <a:extLst xmlns:a="http://schemas.openxmlformats.org/drawingml/2006/main">
              <a:ext uri="{FF2B5EF4-FFF2-40B4-BE49-F238E27FC236}">
                <a16:creationId xmlns:a16="http://schemas.microsoft.com/office/drawing/2014/main" id="{0F8F0423-F8FB-46F7-8D3C-B1850CB4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3850"/>
            <a:ext cx="26670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5E2BD">
              <a:alpha val="23000"/>
            </a:srgbClr>
          </a:solidFill>
          <a:ln xmlns:a="http://schemas.openxmlformats.org/drawingml/2006/main" w="9525">
            <a:solidFill>
              <a:srgbClr val="75E2BD">
                <a:alpha val="55000"/>
              </a:srgbClr>
            </a:solidFill>
          </a:ln>
        </p:spPr>
      </p:sp>
      <p:sp>
        <p:nvSpPr>
          <p:cNvPr id="5" name="NAV_1">
            <ns0:hlinkClick xmlns:ns0="http://schemas.openxmlformats.org/drawingml/2006/main" xmlns:ns1="http://schemas.openxmlformats.org/officeDocument/2006/relationships" ns1:id="rId1" action="ppaction://hlinksldjump" tooltip="Go to section 1"/>
            <a:extLst xmlns:a="http://schemas.openxmlformats.org/drawingml/2006/main">
              <a:ext uri="{FF2B5EF4-FFF2-40B4-BE49-F238E27FC236}">
                <a16:creationId xmlns:a16="http://schemas.microsoft.com/office/drawing/2014/main" id="{29494BEE-CEC5-434C-879D-4A708F9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rPr>
              <a:t>Matematika</a:t>
            </a:r>
          </a:p>
        </p:txBody>
      </p:sp>
      <p:sp>
        <p:nvSpPr>
          <p:cNvPr id="6" name="NAV_2">
            <ns0:hlinkClick xmlns:ns0="http://schemas.openxmlformats.org/drawingml/2006/main" xmlns:ns1="http://schemas.openxmlformats.org/officeDocument/2006/relationships" ns1:id="rId2" action="ppaction://hlinksldjump" tooltip="Go to section 2"/>
            <a:extLst xmlns:a="http://schemas.openxmlformats.org/drawingml/2006/main">
              <a:ext uri="{FF2B5EF4-FFF2-40B4-BE49-F238E27FC236}">
                <a16:creationId xmlns:a16="http://schemas.microsoft.com/office/drawing/2014/main" id="{E43F4347-4498-4798-9BC9-58B407E5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8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rPr>
              <a:t>Fizika</a:t>
            </a:r>
          </a:p>
        </p:txBody>
      </p:sp>
      <p:sp>
        <p:nvSpPr>
          <p:cNvPr id="7" name="NAV_3">
            <ns0:hlinkClick xmlns:ns0="http://schemas.openxmlformats.org/drawingml/2006/main" xmlns:ns1="http://schemas.openxmlformats.org/officeDocument/2006/relationships" ns1:id="rId3" action="ppaction://hlinksldjump" tooltip="Go to section 3"/>
            <a:extLst xmlns:a="http://schemas.openxmlformats.org/drawingml/2006/main">
              <a:ext uri="{FF2B5EF4-FFF2-40B4-BE49-F238E27FC236}">
                <a16:creationId xmlns:a16="http://schemas.microsoft.com/office/drawing/2014/main" id="{23C8C1C3-DD6A-47F2-B88D-B2481401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1D9E6"/>
                </a:solidFill>
                <a:latin typeface="DejaVu Sans"/>
                <a:ea typeface="DejaVu Sans"/>
                <a:cs typeface="DejaVu Sans"/>
              </a:rPr>
              <a:t>Kimyo</a:t>
            </a:r>
          </a:p>
        </p:txBody>
      </p:sp>
      <p:sp>
        <p:nvSpPr>
          <p:cNvPr id="8" name="NAV_4">
            <ns0:hlinkClick xmlns:ns0="http://schemas.openxmlformats.org/drawingml/2006/main" xmlns:ns1="http://schemas.openxmlformats.org/officeDocument/2006/relationships" ns1:id="rId4" action="ppaction://hlinksldjump" tooltip="Go to section 4"/>
            <a:extLst xmlns:a="http://schemas.openxmlformats.org/drawingml/2006/main">
              <a:ext uri="{FF2B5EF4-FFF2-40B4-BE49-F238E27FC236}">
                <a16:creationId xmlns:a16="http://schemas.microsoft.com/office/drawing/2014/main" id="{7ECE4426-FD8F-4C43-B0DC-B696F4CF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8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Biologiya</a:t>
            </a:r>
          </a:p>
        </p:txBody>
      </p:sp>
      <p:sp>
        <p:nvSpPr>
          <p:cNvPr id="9" name="!!TITLE">
            <a:extLst xmlns:a="http://schemas.openxmlformats.org/drawingml/2006/main">
              <a:ext uri="{FF2B5EF4-FFF2-40B4-BE49-F238E27FC236}">
                <a16:creationId xmlns:a16="http://schemas.microsoft.com/office/drawing/2014/main" id="{23295EC9-B342-4174-A773-7CCF782F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Hardy–Weinberg muvozanati</a:t>
            </a:r>
          </a:p>
        </p:txBody>
      </p:sp>
      <p:sp>
        <p:nvSpPr>
          <p:cNvPr id="10" name="!!INTRO">
            <a:extLst xmlns:a="http://schemas.openxmlformats.org/drawingml/2006/main">
              <a:ext uri="{FF2B5EF4-FFF2-40B4-BE49-F238E27FC236}">
                <a16:creationId xmlns:a16="http://schemas.microsoft.com/office/drawing/2014/main" id="{465CEA0E-3C09-44DD-8645-16124576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09775"/>
            <a:ext cx="1064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6E1ED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D6E1ED"/>
                </a:solidFill>
                <a:latin typeface="DejaVu Sans"/>
                <a:ea typeface="DejaVu Sans"/>
                <a:cs typeface="DejaVu Sans"/>
              </a:rPr>
              <a:t>Allel chastotalari orqali genotiplarning kutiladigan ulushlarini hisoblaymiz.</a:t>
            </a:r>
          </a:p>
        </p:txBody>
      </p:sp>
      <p:sp>
        <p:nvSpPr>
          <p:cNvPr id="11" name="!!FORMULA_GLASS">
            <a:extLst xmlns:a="http://schemas.openxmlformats.org/drawingml/2006/main">
              <a:ext uri="{FF2B5EF4-FFF2-40B4-BE49-F238E27FC236}">
                <a16:creationId xmlns:a16="http://schemas.microsoft.com/office/drawing/2014/main" id="{EB0CCD1D-1367-4DB8-B2FA-9DCB9CD8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744200" cy="1752600"/>
          </a:xfrm>
          <a:prstGeom xmlns:a="http://schemas.openxmlformats.org/drawingml/2006/main" prst="roundRect">
            <a:avLst>
              <a:gd name="adj" fmla="val 15217"/>
            </a:avLst>
          </a:prstGeom>
          <a:gradFill xmlns:a="http://schemas.openxmlformats.org/drawingml/2006/main">
            <a:gsLst>
              <a:gs pos="0">
                <a:srgbClr val="F4FCFF">
                  <a:alpha val="13000"/>
                </a:srgbClr>
              </a:gs>
              <a:gs pos="100000">
                <a:srgbClr val="DCE5FF">
                  <a:alpha val="5000"/>
                </a:srgbClr>
              </a:gs>
            </a:gsLst>
            <a:lin ang="8100000"/>
          </a:gradFill>
          <a:ln xmlns:a="http://schemas.openxmlformats.org/drawingml/2006/main" w="9525">
            <a:solidFill>
              <a:srgbClr val="F4FCFF">
                <a:alpha val="28000"/>
              </a:srgbClr>
            </a:solidFill>
          </a:ln>
        </p:spPr>
      </p:sp>
      <mc:AlternateContent>
        <mc:Choice Requires="a14">
          <p:sp>
            <p:nvSpPr>
              <p:cNvPr id="12" name="EQ_MAIN" descr="p² + 2pq + q² = 1 — editable Office Math 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A2BD16FA-E370-4495-B9FF-E38C0A255CD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28750" y="2800350"/>
                <a:ext cx="9334500" cy="1190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ns0:p xmlns:ns0="http://schemas.openxmlformats.org/drawingml/2006/main">
                <ns0:pPr algn="ctr">
                  <ns0:defRPr sz="4000" b="0" lang="en-US">
                    <ns0:solidFill>
                      <ns0:srgbClr val="F6F8FF"/>
                    </ns0:solidFill>
                    <ns0:latin typeface="Cambria Math"/>
                    <ns0:ea typeface="Cambria Math"/>
                    <ns0:cs typeface="Cambria Math"/>
                  </ns0:defRPr>
                </ns0:pPr>
                <a14:m>
                  <m:oMathPara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ns0:rPr sz="40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ns0:rPr sz="40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ns0:rPr sz="40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ns0:rPr sz="40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+2</m:t>
                      </m:r>
                      <m:r>
                        <m:rPr>
                          <m:sty m:val="i"/>
                        </m:rPr>
                        <ns0:rPr sz="40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pq</m:t>
                      </m:r>
                      <m:r>
                        <m:rPr>
                          <m:sty m:val="p"/>
                        </m:rPr>
                        <ns0:rPr sz="40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+</m:t>
                      </m:r>
                      <m:sSup>
                        <m:sSupPr>
                          <m:ctrlPr>
                            <ns0:rPr sz="40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ns0:rPr sz="40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q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ns0:rPr sz="40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ns0:rPr sz="40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=1</m:t>
                      </m:r>
                    </m:oMath>
                  </m:oMathPara>
                </a14:m>
                <ns0:endParaRPr sz="4000" b="0" lang="en-US">
                  <ns0:solidFill>
                    <ns0:srgbClr val="F6F8FF"/>
                  </ns0:solidFill>
                  <ns0:latin typeface="Cambria Math"/>
                  <ns0:ea typeface="Cambria Math"/>
                  <ns0:cs typeface="Cambria Math"/>
                </ns0:endParaRPr>
              </ns0:p>
            </p:txBody>
          </p:sp>
        </mc:Choice>
        <mc:Fallback>
          <p:sp>
            <p:nvSpPr>
              <p:cNvPr id="19" name="EQ_MAIN_FALLBACK" descr="p² + 2pq + q² = 1 — compatibility image">
                <a:extLst xmlns:a="http://schemas.openxmlformats.org/drawingml/2006/main">
                  <a:ext uri="{FF2B5EF4-FFF2-40B4-BE49-F238E27FC236}">
                    <a16:creationId xmlns:a16="http://schemas.microsoft.com/office/drawing/2014/main" id="{A2BD16FA-E370-4495-B9FF-E38C0A255CD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28750" y="2800350"/>
                <a:ext cx="9334500" cy="11906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 dpi="0" rotWithShape="1">
                <ns0:blip xmlns:ns1="http://schemas.openxmlformats.org/officeDocument/2006/relationships" ns1:embed="rIdEq1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3" name="!!EXAMPLE_GLASS">
            <a:extLst xmlns:a="http://schemas.openxmlformats.org/drawingml/2006/main">
              <a:ext uri="{FF2B5EF4-FFF2-40B4-BE49-F238E27FC236}">
                <a16:creationId xmlns:a16="http://schemas.microsoft.com/office/drawing/2014/main" id="{7FE9E103-C0E8-4C4A-BE22-7B884EAA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0744200" cy="1390650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4FCFF">
              <a:alpha val="7000"/>
            </a:srgbClr>
          </a:solidFill>
          <a:ln xmlns:a="http://schemas.openxmlformats.org/drawingml/2006/main" w="9525">
            <a:solidFill>
              <a:srgbClr val="F4FCFF">
                <a:alpha val="19000"/>
              </a:srgbClr>
            </a:solidFill>
          </a:ln>
        </p:spPr>
      </p:sp>
      <p:sp>
        <p:nvSpPr>
          <p:cNvPr id="14" name="!!EXAMPLE_LABEL">
            <a:extLst xmlns:a="http://schemas.openxmlformats.org/drawingml/2006/main">
              <a:ext uri="{FF2B5EF4-FFF2-40B4-BE49-F238E27FC236}">
                <a16:creationId xmlns:a16="http://schemas.microsoft.com/office/drawing/2014/main" id="{78A0D996-7B0D-4D88-B205-21E9DF3B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5E2BD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5E2BD"/>
                </a:solidFill>
                <a:latin typeface="DejaVu Sans"/>
                <a:ea typeface="DejaVu Sans"/>
                <a:cs typeface="DejaVu Sans"/>
              </a:rPr>
              <a:t>MISOL</a:t>
            </a:r>
          </a:p>
        </p:txBody>
      </p:sp>
      <mc:AlternateContent>
        <mc:Choice Requires="a14">
          <p:sp>
            <p:nvSpPr>
              <p:cNvPr id="15" name="EQ_SECONDARY" descr="p = 0.6, q = 0.4  ⇒  p² = 0.36, 2pq = 0.48, q² = 0.16 — editable Office Math 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DDF3C125-1421-4F00-887C-4E8C38553D1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90600" y="5010150"/>
                <a:ext cx="10210800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ns0:p xmlns:ns0="http://schemas.openxmlformats.org/drawingml/2006/main">
                <ns0:pPr algn="ctr">
                  <ns0:defRPr sz="2600" b="0" lang="en-US">
                    <ns0:solidFill>
                      <ns0:srgbClr val="F6F8FF"/>
                    </ns0:solidFill>
                    <ns0:latin typeface="Cambria Math"/>
                    <ns0:ea typeface="Cambria Math"/>
                    <ns0:cs typeface="Cambria Math"/>
                  </ns0:defRPr>
                </ns0:pPr>
                <a14:m>
                  <m:oMathPara>
                    <m:oMathParaPr>
                      <m:jc m:val="center"/>
                    </m:oMathParaPr>
                    <m:oMath>
                      <m:r>
                        <m:rPr>
                          <m:sty m:val="i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p</m:t>
                      </m:r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 xml:space="preserve">=0.6,  </m:t>
                      </m:r>
                      <m:r>
                        <m:rPr>
                          <m:sty m:val="i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q</m:t>
                      </m:r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 xml:space="preserve">=0.4  ⇒  </m:t>
                      </m:r>
                      <m:sSup>
                        <m:sSupPr>
                          <m:ctrl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=0.36,  2</m:t>
                      </m:r>
                      <m:r>
                        <m:rPr>
                          <m:sty m:val="i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pq</m:t>
                      </m:r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 xml:space="preserve">=0.48,  </m:t>
                      </m:r>
                      <m:sSup>
                        <m:sSupPr>
                          <m:ctrl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q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ns0:rPr sz="2600" b="0" lang="en-US">
                              <ns0:solidFill>
                                <ns0:srgbClr val="F6F8FF"/>
                              </ns0:solidFill>
                              <ns0:latin typeface="Cambria Math"/>
                              <ns0:ea typeface="Cambria Math"/>
                              <ns0:cs typeface="Cambria Math"/>
                            </ns0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ns0:rPr sz="2600" b="0" lang="en-US">
                          <ns0:solidFill>
                            <ns0:srgbClr val="F6F8FF"/>
                          </ns0:solidFill>
                          <ns0:latin typeface="Cambria Math"/>
                          <ns0:ea typeface="Cambria Math"/>
                          <ns0:cs typeface="Cambria Math"/>
                        </ns0:rPr>
                        <m:t>=0.16</m:t>
                      </m:r>
                    </m:oMath>
                  </m:oMathPara>
                </a14:m>
                <ns0:endParaRPr sz="2600" b="0" lang="en-US">
                  <ns0:solidFill>
                    <ns0:srgbClr val="F6F8FF"/>
                  </ns0:solidFill>
                  <ns0:latin typeface="Cambria Math"/>
                  <ns0:ea typeface="Cambria Math"/>
                  <ns0:cs typeface="Cambria Math"/>
                </ns0:endParaRPr>
              </ns0:p>
            </p:txBody>
          </p:sp>
        </mc:Choice>
        <mc:Fallback>
          <p:sp>
            <p:nvSpPr>
              <p:cNvPr id="20" name="EQ_SECONDARY_FALLBACK" descr="p = 0.6, q = 0.4  ⇒  p² = 0.36, 2pq = 0.48, q² = 0.16 — compatibility image">
                <a:extLst xmlns:a="http://schemas.openxmlformats.org/drawingml/2006/main">
                  <a:ext uri="{FF2B5EF4-FFF2-40B4-BE49-F238E27FC236}">
                    <a16:creationId xmlns:a16="http://schemas.microsoft.com/office/drawing/2014/main" id="{DDF3C125-1421-4F00-887C-4E8C38553D1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90600" y="5010150"/>
                <a:ext cx="10210800" cy="7239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 dpi="0" rotWithShape="1">
                <ns0:blip xmlns:ns1="http://schemas.openxmlformats.org/officeDocument/2006/relationships" ns1:embed="rIdEq2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6" name="!!DEFINITIONS">
            <a:extLst xmlns:a="http://schemas.openxmlformats.org/drawingml/2006/main">
              <a:ext uri="{FF2B5EF4-FFF2-40B4-BE49-F238E27FC236}">
                <a16:creationId xmlns:a16="http://schemas.microsoft.com/office/drawing/2014/main" id="{150B911E-487B-4DAE-8FB8-754DE199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>
                <a:solidFill>
                  <a:srgbClr val="D4DEEA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D4DEEA"/>
                </a:solidFill>
                <a:latin typeface="DejaVu Sans"/>
                <a:ea typeface="DejaVu Sans"/>
                <a:cs typeface="DejaVu Sans"/>
              </a:rPr>
              <a:t>p + q = 1. p², 2pq, q² — mos ravishda AA, Aa va aa genotiplari ulushlari.</a:t>
            </a:r>
          </a:p>
        </p:txBody>
      </p:sp>
      <p:sp>
        <p:nvSpPr>
          <p:cNvPr id="17" name="!!COUNTER">
            <a:extLst xmlns:a="http://schemas.openxmlformats.org/drawingml/2006/main">
              <a:ext uri="{FF2B5EF4-FFF2-40B4-BE49-F238E27FC236}">
                <a16:creationId xmlns:a16="http://schemas.microsoft.com/office/drawing/2014/main" id="{4645AE4C-A51B-4366-93BF-8AB0BDB0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C4D0E0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C4D0E0"/>
                </a:solidFill>
                <a:latin typeface="DejaVu Sans"/>
                <a:ea typeface="DejaVu Sans"/>
                <a:cs typeface="DejaVu Sans"/>
              </a:rPr>
              <a:t>4 / 4</a:t>
            </a:r>
          </a:p>
        </p:txBody>
      </p:sp>
    </p:spTree>
    <p:extLst>
      <p:ext uri="{BB962C8B-B14F-4D97-AF65-F5344CB8AC3E}">
        <p14:creationId xmlns:p14="http://schemas.microsoft.com/office/powerpoint/2010/main" val="799269130"/>
      </p:ext>
    </p:extLst>
  </p:cSld>
  <mc:AlternateContent>
    <mc:Choice xmlns:p159="http://schemas.microsoft.com/office/powerpoint/2015/09/main" xmlns:p14="http://schemas.microsoft.com/office/powerpoint/2010/main" Requires="p159 p14">
      <p:transition spd="fast" advClick="1" p14:dur="700">
        <p159:morph option="byObject"/>
      </p:transition>
    </mc:Choice>
    <mc:Choice xmlns:p14="http://schemas.microsoft.com/office/powerpoint/2010/main" Requires="p14">
      <p:transition spd="fast" advClick="1" p14:dur="700">
        <p:fade/>
      </p:transition>
    </mc:Choice>
    <mc:Fallback>
      <p:transition spd="fast" advClick="1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2026-09-13T08:38:42.0720000Z</dcterms:created>
  <dcterms:modified xsi:type="dcterms:W3CDTF">2026-09-13T08:38:42.0720000Z</dcterms:modified>
</coreProperties>
</file>